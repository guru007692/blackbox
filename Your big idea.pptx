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aleway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11" Type="http://schemas.openxmlformats.org/officeDocument/2006/relationships/slide" Target="slides/slide6.xml"/><Relationship Id="rId22" Type="http://schemas.openxmlformats.org/officeDocument/2006/relationships/font" Target="fonts/Lato-boldItalic.fntdata"/><Relationship Id="rId10" Type="http://schemas.openxmlformats.org/officeDocument/2006/relationships/slide" Target="slides/slide5.xml"/><Relationship Id="rId21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regular.fntdata"/><Relationship Id="rId14" Type="http://schemas.openxmlformats.org/officeDocument/2006/relationships/slide" Target="slides/slide9.xml"/><Relationship Id="rId17" Type="http://schemas.openxmlformats.org/officeDocument/2006/relationships/font" Target="fonts/Raleway-italic.fntdata"/><Relationship Id="rId16" Type="http://schemas.openxmlformats.org/officeDocument/2006/relationships/font" Target="fonts/Raleway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regular.fntdata"/><Relationship Id="rId6" Type="http://schemas.openxmlformats.org/officeDocument/2006/relationships/slide" Target="slides/slide1.xml"/><Relationship Id="rId18" Type="http://schemas.openxmlformats.org/officeDocument/2006/relationships/font" Target="fonts/Raleway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b9a0b07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b9a0b07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d5b15f0a3_5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d5b15f0a3_5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723630543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723630543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d251bb473_0_6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d251bb473_0_6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d251bb473_0_6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d251bb473_0_6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d0b4a5b5c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dd0b4a5b5c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cb9a0b074_1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cb9a0b074_1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d0b4a5b5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dd0b4a5b5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723630543_1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723630543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353535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AI- </a:t>
            </a:r>
            <a:r>
              <a:rPr lang="en" sz="4500"/>
              <a:t>Assisted</a:t>
            </a:r>
            <a:r>
              <a:rPr lang="en" sz="4500"/>
              <a:t> analog layout </a:t>
            </a:r>
            <a:r>
              <a:rPr lang="en" sz="4500"/>
              <a:t>optimization</a:t>
            </a:r>
            <a:r>
              <a:rPr lang="en" sz="4500"/>
              <a:t> for process </a:t>
            </a:r>
            <a:r>
              <a:rPr lang="en" sz="4500"/>
              <a:t>mitigation</a:t>
            </a:r>
            <a:endParaRPr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371717" y="339110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 By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      Gurukaushik . S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     </a:t>
            </a:r>
            <a:r>
              <a:rPr lang="en" sz="2000"/>
              <a:t>Department of Electronics and Communication                                                                                                                                                                                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74" name="Google Shape;74;p13"/>
          <p:cNvSpPr txBox="1"/>
          <p:nvPr/>
        </p:nvSpPr>
        <p:spPr>
          <a:xfrm>
            <a:off x="2670725" y="4119225"/>
            <a:ext cx="26802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Engineering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idx="4294967295" type="title"/>
          </p:nvPr>
        </p:nvSpPr>
        <p:spPr>
          <a:xfrm>
            <a:off x="535775" y="712150"/>
            <a:ext cx="5197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Problem</a:t>
            </a:r>
            <a:endParaRPr sz="2400"/>
          </a:p>
        </p:txBody>
      </p:sp>
      <p:sp>
        <p:nvSpPr>
          <p:cNvPr id="80" name="Google Shape;80;p14"/>
          <p:cNvSpPr txBox="1"/>
          <p:nvPr>
            <p:ph idx="4294967295" type="title"/>
          </p:nvPr>
        </p:nvSpPr>
        <p:spPr>
          <a:xfrm>
            <a:off x="535775" y="1480150"/>
            <a:ext cx="5197200" cy="30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➢"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Analog layout migration across technology nodes is </a:t>
            </a:r>
            <a:r>
              <a:rPr lang="en" sz="1800">
                <a:latin typeface="Lato"/>
                <a:ea typeface="Lato"/>
                <a:cs typeface="Lato"/>
                <a:sym typeface="Lato"/>
              </a:rPr>
              <a:t>manual and time-consuming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➢"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Unlike digital circuits, </a:t>
            </a:r>
            <a:r>
              <a:rPr lang="en" sz="1800">
                <a:latin typeface="Lato"/>
                <a:ea typeface="Lato"/>
                <a:cs typeface="Lato"/>
                <a:sym typeface="Lato"/>
              </a:rPr>
              <a:t>automation is very limited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➢"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Designers must ensure symmetry, matching, and proper routing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➢"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Parasitic effects make the process more complex and error-prone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an orange question mark with a ball below it (provided by Tenor)" id="81" name="Google Shape;8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9400" y="2382375"/>
            <a:ext cx="2112246" cy="2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87" name="Google Shape;87;p15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5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Objective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9" name="Google Shape;89;p15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E69138"/>
              </a:buClr>
              <a:buSzPts val="1700"/>
              <a:buFont typeface="Arial"/>
              <a:buChar char="➔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To develop a </a:t>
            </a:r>
            <a:r>
              <a:rPr b="1" lang="en" sz="1700">
                <a:latin typeface="Arial"/>
                <a:ea typeface="Arial"/>
                <a:cs typeface="Arial"/>
                <a:sym typeface="Arial"/>
              </a:rPr>
              <a:t>prototype AI-assisted optimization system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E69138"/>
              </a:buClr>
              <a:buSzPts val="1700"/>
              <a:buFont typeface="Arial"/>
              <a:buChar char="➔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Convert analog layouts into a </a:t>
            </a:r>
            <a:r>
              <a:rPr b="1" lang="en" sz="1700">
                <a:latin typeface="Arial"/>
                <a:ea typeface="Arial"/>
                <a:cs typeface="Arial"/>
                <a:sym typeface="Arial"/>
              </a:rPr>
              <a:t>graph-based representation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E69138"/>
              </a:buClr>
              <a:buSzPts val="1700"/>
              <a:buFont typeface="Arial"/>
              <a:buChar char="➔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Analyze circuit connectivity and structure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E69138"/>
              </a:buClr>
              <a:buSzPts val="1700"/>
              <a:buFont typeface="Arial"/>
              <a:buChar char="➔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Improve placement while preserving symmetry and functionality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>
            <p:ph type="title"/>
          </p:nvPr>
        </p:nvSpPr>
        <p:spPr>
          <a:xfrm>
            <a:off x="353475" y="654000"/>
            <a:ext cx="86316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 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743325" y="2042025"/>
            <a:ext cx="7851900" cy="22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➢"/>
            </a:pPr>
            <a:r>
              <a:rPr lang="en" sz="2000">
                <a:solidFill>
                  <a:schemeClr val="accent5"/>
                </a:solidFill>
              </a:rPr>
              <a:t>Input layout is represented in a </a:t>
            </a:r>
            <a:r>
              <a:rPr b="1" lang="en" sz="2000">
                <a:solidFill>
                  <a:schemeClr val="accent5"/>
                </a:solidFill>
              </a:rPr>
              <a:t>grid or structured format</a:t>
            </a:r>
            <a:endParaRPr b="1" sz="2000">
              <a:solidFill>
                <a:schemeClr val="accent5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accent5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➢"/>
            </a:pPr>
            <a:r>
              <a:rPr lang="en" sz="2000">
                <a:solidFill>
                  <a:schemeClr val="accent5"/>
                </a:solidFill>
              </a:rPr>
              <a:t>Convert layout into a </a:t>
            </a:r>
            <a:r>
              <a:rPr b="1" lang="en" sz="2000">
                <a:solidFill>
                  <a:schemeClr val="accent5"/>
                </a:solidFill>
              </a:rPr>
              <a:t>graph (nodes and connections)</a:t>
            </a:r>
            <a:endParaRPr b="1" sz="2000">
              <a:solidFill>
                <a:schemeClr val="accent5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accent5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➢"/>
            </a:pPr>
            <a:r>
              <a:rPr lang="en" sz="2000">
                <a:solidFill>
                  <a:schemeClr val="accent5"/>
                </a:solidFill>
              </a:rPr>
              <a:t>Apply symmetry detection and optimization rules</a:t>
            </a:r>
            <a:endParaRPr sz="2000">
              <a:solidFill>
                <a:schemeClr val="accent5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5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➢"/>
            </a:pPr>
            <a:r>
              <a:rPr lang="en" sz="2000">
                <a:solidFill>
                  <a:schemeClr val="accent5"/>
                </a:solidFill>
              </a:rPr>
              <a:t>Generate an improved layout with reduced complexity</a:t>
            </a:r>
            <a:endParaRPr sz="20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>
            <p:ph type="title"/>
          </p:nvPr>
        </p:nvSpPr>
        <p:spPr>
          <a:xfrm>
            <a:off x="283099" y="712150"/>
            <a:ext cx="86223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  </a:t>
            </a:r>
            <a:r>
              <a:rPr lang="en"/>
              <a:t>Expected Results</a:t>
            </a:r>
            <a:endParaRPr b="0" sz="2400"/>
          </a:p>
        </p:txBody>
      </p:sp>
      <p:sp>
        <p:nvSpPr>
          <p:cNvPr id="101" name="Google Shape;101;p17"/>
          <p:cNvSpPr txBox="1"/>
          <p:nvPr/>
        </p:nvSpPr>
        <p:spPr>
          <a:xfrm>
            <a:off x="743325" y="1973675"/>
            <a:ext cx="7715400" cy="23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ato"/>
              <a:buChar char="➢"/>
            </a:pPr>
            <a:r>
              <a:rPr lang="en" sz="22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rPr>
              <a:t>Improved symmetry in device placement</a:t>
            </a:r>
            <a:endParaRPr sz="2200">
              <a:solidFill>
                <a:schemeClr val="accent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accent5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ato"/>
              <a:buChar char="➢"/>
            </a:pPr>
            <a:r>
              <a:rPr lang="en" sz="22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rPr>
              <a:t>Reduction in total wire length (parasitic proxy)</a:t>
            </a:r>
            <a:endParaRPr sz="2200">
              <a:solidFill>
                <a:schemeClr val="accent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accent5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ato"/>
              <a:buChar char="➢"/>
            </a:pPr>
            <a:r>
              <a:rPr lang="en" sz="22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rPr>
              <a:t>Better layout efficiency and organization</a:t>
            </a:r>
            <a:endParaRPr sz="2200">
              <a:solidFill>
                <a:schemeClr val="accent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accent5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ato"/>
              <a:buChar char="➢"/>
            </a:pPr>
            <a:r>
              <a:rPr lang="en" sz="22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rPr>
              <a:t>Faster design compared to manual methods</a:t>
            </a:r>
            <a:endParaRPr sz="2200">
              <a:solidFill>
                <a:schemeClr val="accent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07" name="Google Shape;107;p18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8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Technical   Highlights</a:t>
            </a:r>
            <a:endParaRPr b="1" sz="24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9" name="Google Shape;109;p18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➔"/>
            </a:pPr>
            <a:r>
              <a:rPr lang="en" sz="1600"/>
              <a:t>Graph-based modeling using Python </a:t>
            </a:r>
            <a:endParaRPr sz="1600"/>
          </a:p>
          <a:p>
            <a:pPr indent="-3492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Char char="➔"/>
            </a:pPr>
            <a:r>
              <a:rPr lang="en" sz="1600"/>
              <a:t>Rule-based optimization techniques</a:t>
            </a:r>
            <a:endParaRPr sz="1600"/>
          </a:p>
          <a:p>
            <a:pPr indent="-3492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Char char="➔"/>
            </a:pPr>
            <a:r>
              <a:rPr lang="en" sz="1600"/>
              <a:t>Wire length used as a cost function</a:t>
            </a:r>
            <a:endParaRPr sz="1600"/>
          </a:p>
          <a:p>
            <a:pPr indent="-3492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Char char="➔"/>
            </a:pPr>
            <a:r>
              <a:rPr lang="en" sz="1600"/>
              <a:t>Foundation for future AI/ML-based enhancements</a:t>
            </a:r>
            <a:endParaRPr sz="1600"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15" name="Google Shape;115;p19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9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Future Scope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7" name="Google Shape;117;p19"/>
          <p:cNvSpPr txBox="1"/>
          <p:nvPr>
            <p:ph idx="4294967295" type="body"/>
          </p:nvPr>
        </p:nvSpPr>
        <p:spPr>
          <a:xfrm>
            <a:off x="2855550" y="1377475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➔"/>
            </a:pPr>
            <a:r>
              <a:rPr lang="en" sz="1700"/>
              <a:t>Integration of Graph Neural Networks (GNN)</a:t>
            </a:r>
            <a:endParaRPr sz="1700"/>
          </a:p>
          <a:p>
            <a:pPr indent="-3492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Char char="➔"/>
            </a:pPr>
            <a:r>
              <a:rPr lang="en" sz="1700"/>
              <a:t>Support for real GDSII layout data</a:t>
            </a:r>
            <a:endParaRPr sz="1700"/>
          </a:p>
          <a:p>
            <a:pPr indent="-3492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Char char="➔"/>
            </a:pPr>
            <a:r>
              <a:rPr lang="en" sz="1700"/>
              <a:t>Advanced parasitic-aware optimization</a:t>
            </a:r>
            <a:endParaRPr sz="1700"/>
          </a:p>
          <a:p>
            <a:pPr indent="-3492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Char char="➔"/>
            </a:pPr>
            <a:r>
              <a:rPr lang="en" sz="1700"/>
              <a:t>Potential integration with industry EDA tools</a:t>
            </a:r>
            <a:endParaRPr sz="1700"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/>
          <p:nvPr>
            <p:ph type="title"/>
          </p:nvPr>
        </p:nvSpPr>
        <p:spPr>
          <a:xfrm>
            <a:off x="283099" y="712150"/>
            <a:ext cx="86223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  </a:t>
            </a:r>
            <a:r>
              <a:rPr lang="en"/>
              <a:t>Conclusion</a:t>
            </a:r>
            <a:endParaRPr b="0" sz="2400"/>
          </a:p>
        </p:txBody>
      </p:sp>
      <p:sp>
        <p:nvSpPr>
          <p:cNvPr id="123" name="Google Shape;123;p20"/>
          <p:cNvSpPr txBox="1"/>
          <p:nvPr/>
        </p:nvSpPr>
        <p:spPr>
          <a:xfrm>
            <a:off x="743325" y="1973675"/>
            <a:ext cx="7715400" cy="23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Lato"/>
              <a:buChar char="➢"/>
            </a:pPr>
            <a:r>
              <a:rPr lang="en" sz="19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rPr>
              <a:t>Combines </a:t>
            </a:r>
            <a:r>
              <a:rPr b="1" lang="en" sz="19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rPr>
              <a:t>AI concepts with core VLSI design challenges</a:t>
            </a:r>
            <a:endParaRPr b="1" sz="1900">
              <a:solidFill>
                <a:schemeClr val="accent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accent5"/>
              </a:solidFill>
              <a:latin typeface="Lato"/>
              <a:ea typeface="Lato"/>
              <a:cs typeface="Lato"/>
              <a:sym typeface="Lato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Lato"/>
              <a:buChar char="➢"/>
            </a:pPr>
            <a:r>
              <a:rPr lang="en" sz="19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rPr>
              <a:t>Addresses a real problem in semiconductor industry</a:t>
            </a:r>
            <a:endParaRPr sz="1900">
              <a:solidFill>
                <a:schemeClr val="accent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accent5"/>
              </a:solidFill>
              <a:latin typeface="Lato"/>
              <a:ea typeface="Lato"/>
              <a:cs typeface="Lato"/>
              <a:sym typeface="Lato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Lato"/>
              <a:buChar char="➢"/>
            </a:pPr>
            <a:r>
              <a:rPr lang="en" sz="19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rPr>
              <a:t>Prototype demonstrates feasibility of automation</a:t>
            </a:r>
            <a:endParaRPr sz="1900">
              <a:solidFill>
                <a:schemeClr val="accent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accent5"/>
              </a:solidFill>
              <a:latin typeface="Lato"/>
              <a:ea typeface="Lato"/>
              <a:cs typeface="Lato"/>
              <a:sym typeface="Lato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Lato"/>
              <a:buChar char="➢"/>
            </a:pPr>
            <a:r>
              <a:rPr lang="en" sz="19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rPr>
              <a:t>Scalable towards advanced design tools</a:t>
            </a:r>
            <a:endParaRPr sz="1900">
              <a:solidFill>
                <a:schemeClr val="accent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accent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D illustration abstract artificial intelligence on a printed circuit board. Technology and engineering concept. Neurons of artificial intelligence. Electronic chip, head processor. (provided by Getty Images)" id="128" name="Google Shape;128;p21"/>
          <p:cNvPicPr preferRelativeResize="0"/>
          <p:nvPr/>
        </p:nvPicPr>
        <p:blipFill rotWithShape="1">
          <a:blip r:embed="rId3">
            <a:alphaModFix/>
          </a:blip>
          <a:srcRect b="0" l="20406" r="20412" t="0"/>
          <a:stretch/>
        </p:blipFill>
        <p:spPr>
          <a:xfrm>
            <a:off x="-1" y="0"/>
            <a:ext cx="4567199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1"/>
          <p:cNvSpPr txBox="1"/>
          <p:nvPr>
            <p:ph idx="1" type="body"/>
          </p:nvPr>
        </p:nvSpPr>
        <p:spPr>
          <a:xfrm>
            <a:off x="4832750" y="980400"/>
            <a:ext cx="4033800" cy="318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4700">
                <a:solidFill>
                  <a:schemeClr val="dk1"/>
                </a:solidFill>
              </a:rPr>
              <a:t>THANK YOU </a:t>
            </a:r>
            <a:endParaRPr sz="35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